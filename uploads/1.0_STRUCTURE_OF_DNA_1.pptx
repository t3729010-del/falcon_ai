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4"/>
  </p:notesMasterIdLst>
  <p:sldIdLst>
    <p:sldId id="256" r:id="rId2"/>
    <p:sldId id="258" r:id="rId3"/>
    <p:sldId id="259" r:id="rId4"/>
    <p:sldId id="266" r:id="rId5"/>
    <p:sldId id="260" r:id="rId6"/>
    <p:sldId id="261" r:id="rId7"/>
    <p:sldId id="267" r:id="rId8"/>
    <p:sldId id="262" r:id="rId9"/>
    <p:sldId id="263" r:id="rId10"/>
    <p:sldId id="268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86715" autoAdjust="0"/>
  </p:normalViewPr>
  <p:slideViewPr>
    <p:cSldViewPr snapToGrid="0">
      <p:cViewPr varScale="1">
        <p:scale>
          <a:sx n="57" d="100"/>
          <a:sy n="57" d="100"/>
        </p:scale>
        <p:origin x="-100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5F55F-4A00-4BCA-8482-400B3E16CE11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2DA2E-6348-4B88-9E9B-6FC52646C2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0564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23D5BAC-D6BB-460F-9523-5DF27DB13C3B}" type="slidenum">
              <a:rPr lang="en-US" altLang="en-US" smtClean="0">
                <a:latin typeface="Arial" charset="0"/>
              </a:rPr>
              <a:pPr/>
              <a:t>5</a:t>
            </a:fld>
            <a:endParaRPr lang="en-US" altLang="en-US">
              <a:latin typeface="Arial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43696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B6695BA-6A83-42BE-8B73-7742920EDCCB}" type="slidenum">
              <a:rPr lang="en-US" altLang="en-US" smtClean="0">
                <a:latin typeface="Arial" charset="0"/>
              </a:rPr>
              <a:pPr/>
              <a:t>6</a:t>
            </a:fld>
            <a:endParaRPr lang="en-US" altLang="en-US">
              <a:latin typeface="Arial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6713" y="674688"/>
            <a:ext cx="6127750" cy="344805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48163"/>
            <a:ext cx="5068888" cy="4122737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97095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2DEEEDC-E5A0-419C-BF2D-556095C82BCD}" type="slidenum">
              <a:rPr lang="en-US" altLang="en-US" smtClean="0">
                <a:latin typeface="Arial" charset="0"/>
              </a:rPr>
              <a:pPr/>
              <a:t>8</a:t>
            </a:fld>
            <a:endParaRPr lang="en-US" altLang="en-US">
              <a:latin typeface="Arial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69466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F282345-C48D-499B-BE09-ED36F464AA53}" type="slidenum">
              <a:rPr lang="en-US" altLang="en-US" smtClean="0">
                <a:latin typeface="Arial" charset="0"/>
              </a:rPr>
              <a:pPr/>
              <a:t>9</a:t>
            </a:fld>
            <a:endParaRPr lang="en-US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1203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AB7B15C-098F-48BB-8A14-186137460EF8}" type="slidenum">
              <a:rPr lang="en-US" altLang="en-US" smtClean="0">
                <a:latin typeface="Arial" charset="0"/>
              </a:rPr>
              <a:pPr/>
              <a:t>11</a:t>
            </a:fld>
            <a:endParaRPr lang="en-US" altLang="en-US">
              <a:latin typeface="Arial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47143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A4E9C26-78B4-430F-B914-09A9A2C94FA5}" type="slidenum">
              <a:rPr lang="en-US" altLang="en-US" smtClean="0">
                <a:latin typeface="Arial" charset="0"/>
              </a:rPr>
              <a:pPr/>
              <a:t>12</a:t>
            </a:fld>
            <a:endParaRPr lang="en-US" altLang="en-US">
              <a:latin typeface="Arial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428866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6685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35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39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94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738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136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886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819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036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803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2142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918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6000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7465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0146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1271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413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CFD77A-FCB3-4BE6-8B3F-3F236AC2E6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4A3624-D6FA-4A8F-A8A1-6ED930CACB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971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STRUCTURE OF DNA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426558" y="6156101"/>
            <a:ext cx="4882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Reference Book :Lippincott's Biochemistry</a:t>
            </a:r>
          </a:p>
          <a:p>
            <a:r>
              <a:rPr lang="en-US" sz="2000" b="1" dirty="0"/>
              <a:t>Chapter 29(Page 395-398)</a:t>
            </a:r>
          </a:p>
        </p:txBody>
      </p:sp>
    </p:spTree>
    <p:extLst>
      <p:ext uri="{BB962C8B-B14F-4D97-AF65-F5344CB8AC3E}">
        <p14:creationId xmlns:p14="http://schemas.microsoft.com/office/powerpoint/2010/main" xmlns="" val="172492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24" y="304801"/>
            <a:ext cx="8686800" cy="701675"/>
          </a:xfrm>
        </p:spPr>
        <p:txBody>
          <a:bodyPr/>
          <a:lstStyle/>
          <a:p>
            <a:pPr>
              <a:defRPr/>
            </a:pPr>
            <a:r>
              <a:rPr lang="en-US" dirty="0"/>
              <a:t>Nucleic acids 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066802" y="990601"/>
            <a:ext cx="9220199" cy="523716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Nucleic acids are molecules that store information for cellular growth and reproduction.</a:t>
            </a:r>
          </a:p>
          <a:p>
            <a:r>
              <a:rPr lang="en-US" altLang="en-US" dirty="0"/>
              <a:t>There are two types of nucleic acid</a:t>
            </a:r>
          </a:p>
          <a:p>
            <a:pPr marL="819150" lvl="1" indent="-571500" algn="just">
              <a:buFont typeface="+mj-lt"/>
              <a:buAutoNum type="romanLcPeriod"/>
            </a:pPr>
            <a:r>
              <a:rPr lang="en-US" altLang="en-US" b="1" dirty="0">
                <a:solidFill>
                  <a:schemeClr val="tx1"/>
                </a:solidFill>
              </a:rPr>
              <a:t>Deoxyribonucleic acid (DNA)</a:t>
            </a:r>
          </a:p>
          <a:p>
            <a:pPr marL="819150" lvl="1" indent="-571500" algn="just">
              <a:buFont typeface="+mj-lt"/>
              <a:buAutoNum type="romanLcPeriod"/>
            </a:pPr>
            <a:r>
              <a:rPr lang="en-US" altLang="en-US" b="1" dirty="0">
                <a:solidFill>
                  <a:schemeClr val="tx1"/>
                </a:solidFill>
              </a:rPr>
              <a:t>Ribonucleic acid (RNA)</a:t>
            </a:r>
          </a:p>
          <a:p>
            <a:r>
              <a:rPr lang="en-US" altLang="en-US" dirty="0"/>
              <a:t> </a:t>
            </a:r>
            <a:r>
              <a:rPr lang="en-US" altLang="en-US" sz="2000" dirty="0"/>
              <a:t>The primary structures of both is similar, </a:t>
            </a:r>
          </a:p>
          <a:p>
            <a:pPr marL="0" indent="0">
              <a:buNone/>
            </a:pPr>
            <a:r>
              <a:rPr lang="en-US" altLang="en-US" sz="2000" dirty="0"/>
              <a:t>linear polymers composed of monomers called nucleotides. </a:t>
            </a:r>
          </a:p>
          <a:p>
            <a:pPr marL="0" indent="0">
              <a:buNone/>
            </a:pPr>
            <a:r>
              <a:rPr lang="en-US" altLang="en-US" sz="2000" dirty="0"/>
              <a:t>Building blocks of nucleic acid are NUCLEOTIDES.</a:t>
            </a:r>
            <a:endParaRPr lang="en-US" altLang="en-US" sz="2000" b="1" dirty="0"/>
          </a:p>
          <a:p>
            <a:r>
              <a:rPr lang="en-US" altLang="en-US" sz="2000" dirty="0"/>
              <a:t>Cellular RNAs range in length from less than one hundred to many thousands of nucleotides.</a:t>
            </a:r>
          </a:p>
          <a:p>
            <a:r>
              <a:rPr lang="en-US" altLang="en-US" sz="2000" dirty="0"/>
              <a:t>Cellular DNA molecules can be as long as several hundred million nucleotides. </a:t>
            </a:r>
          </a:p>
          <a:p>
            <a:r>
              <a:rPr lang="en-US" altLang="en-US" sz="2000" dirty="0"/>
              <a:t>These large DNA units in association with proteins can be stained with dyes and visualized in the light microscope as chromosomes.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51658"/>
            <a:ext cx="3352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0863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717" y="385550"/>
            <a:ext cx="8686800" cy="4730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Deoxyribonucleic acid (DNA)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79486" y="221753"/>
            <a:ext cx="9296400" cy="493236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/>
              <a:t>It contain all the information required to build the cells and tissues of an organism.</a:t>
            </a:r>
          </a:p>
          <a:p>
            <a:pPr eaLnBrk="1" hangingPunct="1"/>
            <a:r>
              <a:rPr lang="en-US" altLang="en-US" sz="2400" dirty="0"/>
              <a:t>The exact replication of this information in any species assures its genetic continuity from generation to generation and is critical to the normal development of an individual. </a:t>
            </a:r>
          </a:p>
          <a:p>
            <a:pPr eaLnBrk="1" hangingPunct="1"/>
            <a:r>
              <a:rPr lang="en-US" altLang="en-US" sz="2400" dirty="0"/>
              <a:t>The information stored in DNA is arranged in hereditary units, now known as </a:t>
            </a:r>
            <a:r>
              <a:rPr lang="en-US" altLang="en-US" sz="2400" b="1" dirty="0"/>
              <a:t>genes, </a:t>
            </a:r>
            <a:r>
              <a:rPr lang="en-US" altLang="en-US" sz="2400" dirty="0"/>
              <a:t>that control identifiable traits of an organism.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85" y="4135272"/>
            <a:ext cx="8651301" cy="258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497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nscription, Translation and Repl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57001" y="3057099"/>
            <a:ext cx="6691715" cy="186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37731" y="1466082"/>
            <a:ext cx="968991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/>
              <a:t>In the process of </a:t>
            </a:r>
            <a:r>
              <a:rPr lang="en-US" altLang="en-US" sz="2800" b="1" dirty="0"/>
              <a:t>transcription, </a:t>
            </a:r>
            <a:r>
              <a:rPr lang="en-US" altLang="en-US" sz="2800" dirty="0"/>
              <a:t>the information stored in DNA is copied into ribonucleic acid (RNA) which is then translated to make proteins.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35927" y="6040582"/>
            <a:ext cx="5379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Central dogma of genetics???</a:t>
            </a:r>
          </a:p>
        </p:txBody>
      </p:sp>
    </p:spTree>
    <p:extLst>
      <p:ext uri="{BB962C8B-B14F-4D97-AF65-F5344CB8AC3E}">
        <p14:creationId xmlns:p14="http://schemas.microsoft.com/office/powerpoint/2010/main" xmlns="" val="239446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02902" y="275230"/>
            <a:ext cx="4617720" cy="67056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Chemistry of DNA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265238" y="822960"/>
            <a:ext cx="8945563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Nucleic Acids are polynucleotides</a:t>
            </a:r>
          </a:p>
          <a:p>
            <a:r>
              <a:rPr lang="en-US" dirty="0"/>
              <a:t>Building blocks are nucleotides</a:t>
            </a:r>
          </a:p>
          <a:p>
            <a:pPr eaLnBrk="1" hangingPunct="1">
              <a:defRPr/>
            </a:pPr>
            <a:r>
              <a:rPr lang="en-US" altLang="en-US" sz="2400" dirty="0"/>
              <a:t>DNA is polymer composed of monomers called Nucleotides. </a:t>
            </a:r>
          </a:p>
          <a:p>
            <a:pPr eaLnBrk="1" hangingPunct="1">
              <a:defRPr/>
            </a:pPr>
            <a:r>
              <a:rPr lang="en-US" altLang="en-US" sz="2400" dirty="0"/>
              <a:t>A nucleotide is made of Nitrogenous base, deoxy ribose sugar and phosphate molecule. 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Nitrogenous bases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dirty="0"/>
              <a:t>Purines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dirty="0" err="1"/>
              <a:t>Pyrimidines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Sugar (Pentose sugar)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dirty="0" err="1"/>
              <a:t>Deoxyribose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Phosphate molecule 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dirty="0"/>
          </a:p>
          <a:p>
            <a:pPr marL="530225" lvl="2" indent="0" algn="ctr">
              <a:lnSpc>
                <a:spcPct val="80000"/>
              </a:lnSpc>
              <a:buNone/>
              <a:defRPr/>
            </a:pPr>
            <a:r>
              <a:rPr lang="en-US" altLang="en-US" sz="2000" b="1" dirty="0"/>
              <a:t>Nucleotide = Nucleoside + Phosphate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380932" y="3213101"/>
            <a:ext cx="1006475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1600" dirty="0">
                <a:latin typeface="Arial" charset="0"/>
                <a:cs typeface="Arial" charset="0"/>
              </a:rPr>
              <a:t>}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735764" y="4191000"/>
            <a:ext cx="34750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6735763" y="4114800"/>
            <a:ext cx="3200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735764" y="4114800"/>
            <a:ext cx="39322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5211762" y="4070186"/>
            <a:ext cx="24987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/>
              <a:t>Nucleosides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036" t="21807" r="6357"/>
          <a:stretch/>
        </p:blipFill>
        <p:spPr>
          <a:xfrm>
            <a:off x="8043028" y="3541536"/>
            <a:ext cx="3786269" cy="248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517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71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0064" y="2444521"/>
            <a:ext cx="8854440" cy="488950"/>
          </a:xfrm>
          <a:effectLst>
            <a:outerShdw dist="17961" dir="2700000" algn="ctr" rotWithShape="0">
              <a:srgbClr val="B2B2B2"/>
            </a:outerShdw>
          </a:effec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Nitrogenous Bases of DNA (and RNA)</a:t>
            </a:r>
          </a:p>
        </p:txBody>
      </p:sp>
      <p:pic>
        <p:nvPicPr>
          <p:cNvPr id="10243" name="Picture 3" descr="aden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0901" y="3006300"/>
            <a:ext cx="25415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 descr="cytos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57952" y="5091906"/>
            <a:ext cx="21113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guan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40121" y="3007384"/>
            <a:ext cx="2927350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 descr="thym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78872" y="5106987"/>
            <a:ext cx="2182812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 descr="uraci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45050" y="5091906"/>
            <a:ext cx="1958975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020469" y="6396038"/>
            <a:ext cx="14414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itchFamily="18" charset="0"/>
              </a:rPr>
              <a:t>RNA only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7340822" y="6396038"/>
            <a:ext cx="14589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itchFamily="18" charset="0"/>
              </a:rPr>
              <a:t>DNA only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780064" y="3692894"/>
            <a:ext cx="11922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itchFamily="18" charset="0"/>
              </a:rPr>
              <a:t>Purines: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902177" y="5584030"/>
            <a:ext cx="17557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 err="1">
                <a:latin typeface="Times New Roman" pitchFamily="18" charset="0"/>
              </a:rPr>
              <a:t>Pyrimidines</a:t>
            </a:r>
            <a:r>
              <a:rPr lang="en-US" altLang="en-US" sz="2400" dirty="0">
                <a:latin typeface="Times New Roman" pitchFamily="18" charset="0"/>
              </a:rPr>
              <a:t>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/>
          <a:srcRect l="4036" t="21807" r="6357"/>
          <a:stretch/>
        </p:blipFill>
        <p:spPr>
          <a:xfrm>
            <a:off x="3853653" y="228713"/>
            <a:ext cx="4707262" cy="183961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12435" y="1322805"/>
            <a:ext cx="1588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Pentose sugar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4711" y="214784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9613" y="212644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DNA</a:t>
            </a:r>
          </a:p>
        </p:txBody>
      </p:sp>
    </p:spTree>
    <p:extLst>
      <p:ext uri="{BB962C8B-B14F-4D97-AF65-F5344CB8AC3E}">
        <p14:creationId xmlns:p14="http://schemas.microsoft.com/office/powerpoint/2010/main" xmlns="" val="258039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6" y="112594"/>
            <a:ext cx="10018713" cy="1752599"/>
          </a:xfrm>
        </p:spPr>
        <p:txBody>
          <a:bodyPr/>
          <a:lstStyle/>
          <a:p>
            <a:r>
              <a:rPr lang="en-US" dirty="0"/>
              <a:t> DNA Nucleosides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39" y="1624083"/>
            <a:ext cx="11013743" cy="46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81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8686800" cy="54864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DNA Nucleotides</a:t>
            </a:r>
          </a:p>
        </p:txBody>
      </p:sp>
      <p:pic>
        <p:nvPicPr>
          <p:cNvPr id="48133" name="Picture 5" descr="F02_0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255594" y="777240"/>
            <a:ext cx="10216262" cy="5715000"/>
          </a:xfr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9332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5867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Structure of DNA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225639" y="990600"/>
            <a:ext cx="7086600" cy="5715000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A single nucleic acid strand has a </a:t>
            </a:r>
            <a:r>
              <a:rPr lang="en-US" altLang="en-US" sz="2000" i="1" dirty="0"/>
              <a:t>backbone </a:t>
            </a:r>
            <a:r>
              <a:rPr lang="en-US" altLang="en-US" sz="2000" dirty="0"/>
              <a:t>composed of repeating pentose-phosphate units from which the purine and pyrimidine bases extend as side groups.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Like a polypeptide, a nucleic acid strand has an end-to-end chemical orientation: the </a:t>
            </a:r>
            <a:r>
              <a:rPr lang="en-US" altLang="en-US" sz="2000" i="1" dirty="0"/>
              <a:t>5 end </a:t>
            </a:r>
            <a:r>
              <a:rPr lang="en-US" altLang="en-US" sz="2000" dirty="0"/>
              <a:t>has a hydroxyl or phosphate group on carbon 5</a:t>
            </a:r>
            <a:r>
              <a:rPr lang="el-GR" altLang="en-US" sz="2000" dirty="0">
                <a:latin typeface="Calibri" pitchFamily="34" charset="0"/>
              </a:rPr>
              <a:t>΄</a:t>
            </a:r>
            <a:r>
              <a:rPr lang="en-US" altLang="en-US" sz="2000" dirty="0"/>
              <a:t>.</a:t>
            </a:r>
          </a:p>
          <a:p>
            <a:endParaRPr lang="en-US" altLang="en-US" sz="2000" dirty="0"/>
          </a:p>
          <a:p>
            <a:r>
              <a:rPr lang="en-US" altLang="en-US" sz="2000" i="1" dirty="0"/>
              <a:t>3</a:t>
            </a:r>
            <a:r>
              <a:rPr lang="el-GR" altLang="en-US" sz="2000" i="1" dirty="0">
                <a:latin typeface="Calibri" pitchFamily="34" charset="0"/>
              </a:rPr>
              <a:t>΄</a:t>
            </a:r>
            <a:r>
              <a:rPr lang="en-US" altLang="en-US" sz="2000" i="1" dirty="0"/>
              <a:t> end </a:t>
            </a:r>
            <a:r>
              <a:rPr lang="en-US" altLang="en-US" sz="2000" dirty="0"/>
              <a:t>usually has a hydroxyl group on the 3 carbon of its terminal sugar.</a:t>
            </a:r>
          </a:p>
          <a:p>
            <a:endParaRPr lang="en-US" altLang="en-US" sz="2000" dirty="0"/>
          </a:p>
          <a:p>
            <a:r>
              <a:rPr lang="en-US" altLang="en-US" sz="2000" dirty="0"/>
              <a:t>Polynucleotide sequences are always written and read in the 5</a:t>
            </a:r>
            <a:r>
              <a:rPr lang="el-GR" altLang="en-US" sz="2000" dirty="0">
                <a:latin typeface="Calibri" pitchFamily="34" charset="0"/>
              </a:rPr>
              <a:t>΄</a:t>
            </a:r>
            <a:r>
              <a:rPr lang="en-US" altLang="en-US" sz="2000" dirty="0"/>
              <a:t> to 3</a:t>
            </a:r>
            <a:r>
              <a:rPr lang="el-GR" altLang="en-US" sz="2000" dirty="0">
                <a:latin typeface="Calibri" pitchFamily="34" charset="0"/>
              </a:rPr>
              <a:t>΄</a:t>
            </a:r>
            <a:r>
              <a:rPr lang="en-US" altLang="en-US" sz="2000" dirty="0"/>
              <a:t> direction (from left to right); for example, the sequence CAG is assumed to be (5)CAG(3).</a:t>
            </a:r>
            <a:endParaRPr lang="en-US" altLang="en-US" sz="2400" dirty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52400"/>
            <a:ext cx="31242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8904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647700"/>
            <a:ext cx="97155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993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914401" y="228601"/>
            <a:ext cx="7248525" cy="6227763"/>
          </a:xfrm>
        </p:spPr>
        <p:txBody>
          <a:bodyPr>
            <a:normAutofit fontScale="92500" lnSpcReduction="10000"/>
          </a:bodyPr>
          <a:lstStyle/>
          <a:p>
            <a:endParaRPr lang="en-US" altLang="en-US" sz="2400" dirty="0"/>
          </a:p>
          <a:p>
            <a:endParaRPr lang="en-US" altLang="en-US" dirty="0"/>
          </a:p>
          <a:p>
            <a:r>
              <a:rPr lang="en-US" altLang="en-US" sz="2400" dirty="0"/>
              <a:t>DNA structure is double helix, both strands are anti-parallel in orientation.</a:t>
            </a:r>
          </a:p>
          <a:p>
            <a:endParaRPr lang="en-US" altLang="en-US" sz="2400" dirty="0"/>
          </a:p>
          <a:p>
            <a:r>
              <a:rPr lang="en-US" altLang="en-US" sz="2400" dirty="0"/>
              <a:t>The chemical linkage between adjacent nucleotides is called a </a:t>
            </a:r>
            <a:r>
              <a:rPr lang="en-US" altLang="en-US" sz="2400" b="1" dirty="0" err="1"/>
              <a:t>phosphodiester</a:t>
            </a:r>
            <a:r>
              <a:rPr lang="en-US" altLang="en-US" sz="2400" b="1" dirty="0"/>
              <a:t> bond.</a:t>
            </a:r>
          </a:p>
          <a:p>
            <a:endParaRPr lang="en-US" altLang="en-US" sz="2400" b="1" dirty="0"/>
          </a:p>
          <a:p>
            <a:r>
              <a:rPr lang="en-US" altLang="en-US" sz="2400" dirty="0"/>
              <a:t>The strands are held in precise register by formation of </a:t>
            </a:r>
            <a:r>
              <a:rPr lang="en-US" altLang="en-US" sz="2400" b="1" dirty="0"/>
              <a:t>base pairs </a:t>
            </a:r>
            <a:r>
              <a:rPr lang="en-US" altLang="en-US" sz="2400" dirty="0"/>
              <a:t>between the two strands: A is paired with T through two hydrogen bonds; G is paired with C through three hydrogen bonds.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 This base-pair complementarity is a consequence of the size, shape, and chemical composition of the bases.</a:t>
            </a:r>
            <a:endParaRPr lang="en-US" altLang="en-US" sz="2400" b="1" dirty="0"/>
          </a:p>
          <a:p>
            <a:endParaRPr lang="en-US" altLang="en-US" sz="2400" b="1" dirty="0"/>
          </a:p>
          <a:p>
            <a:endParaRPr lang="en-US" altLang="en-US" sz="2400" b="1" dirty="0"/>
          </a:p>
          <a:p>
            <a:endParaRPr lang="en-US" altLang="en-US" sz="2400" b="1" dirty="0"/>
          </a:p>
          <a:p>
            <a:endParaRPr lang="en-US" altLang="en-US" sz="2400" dirty="0"/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62926" y="304801"/>
            <a:ext cx="3236913" cy="646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75701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762001"/>
            <a:ext cx="5943600" cy="5694363"/>
          </a:xfrm>
        </p:spPr>
        <p:txBody>
          <a:bodyPr>
            <a:normAutofit/>
          </a:bodyPr>
          <a:lstStyle/>
          <a:p>
            <a:endParaRPr lang="en-US" altLang="en-US" dirty="0"/>
          </a:p>
          <a:p>
            <a:r>
              <a:rPr lang="en-US" altLang="en-US" dirty="0"/>
              <a:t>Stacked bases are regularly spaced 0.34-0.36 nm apart along the helix axis.</a:t>
            </a:r>
          </a:p>
          <a:p>
            <a:r>
              <a:rPr lang="en-US" altLang="en-US" dirty="0"/>
              <a:t>The helix makes a complete turn every 3.4/3.6 nm; thus there are about 10.5 pairs per turn.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Hydrogen bonds between the bases stabilize the double helical structure of DNA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Loss of hydrogen bond leads to separation of two strands of DNA (Melting of DNA).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13316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5074" t="8121"/>
          <a:stretch>
            <a:fillRect/>
          </a:stretch>
        </p:blipFill>
        <p:spPr bwMode="auto">
          <a:xfrm>
            <a:off x="6934200" y="914400"/>
            <a:ext cx="3352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1312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85</TotalTime>
  <Words>562</Words>
  <Application>Microsoft Office PowerPoint</Application>
  <PresentationFormat>Custom</PresentationFormat>
  <Paragraphs>78</Paragraphs>
  <Slides>12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Parallax</vt:lpstr>
      <vt:lpstr>STRUCTURE OF DNA </vt:lpstr>
      <vt:lpstr>Nucleic acids </vt:lpstr>
      <vt:lpstr>Deoxyribonucleic acid (DNA) Introduction</vt:lpstr>
      <vt:lpstr>Slide 4</vt:lpstr>
      <vt:lpstr>Chemistry of DNA</vt:lpstr>
      <vt:lpstr>Nitrogenous Bases of DNA (and RNA)</vt:lpstr>
      <vt:lpstr> DNA Nucleosides</vt:lpstr>
      <vt:lpstr>DNA Nucleotides</vt:lpstr>
      <vt:lpstr>Structure of DNA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OF DNA</dc:title>
  <dc:creator>Portege</dc:creator>
  <cp:lastModifiedBy>Admin</cp:lastModifiedBy>
  <cp:revision>15</cp:revision>
  <dcterms:created xsi:type="dcterms:W3CDTF">2019-09-26T05:07:16Z</dcterms:created>
  <dcterms:modified xsi:type="dcterms:W3CDTF">2025-11-04T05:00:22Z</dcterms:modified>
</cp:coreProperties>
</file>